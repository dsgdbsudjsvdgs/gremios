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1E2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37760" y="1097280"/>
            <a:ext cx="2286000" cy="228600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E5FF"/>
                </a:solidFill>
                <a:latin typeface="Calibri"/>
              </a:defRPr>
            </a:pPr>
            <a:r>
              <a:t>🖐️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5FF"/>
                </a:solidFill>
                <a:latin typeface="Calibri"/>
              </a:defRPr>
            </a:pPr>
            <a:r>
              <a:t>GRÊMIO ESTUDANTIL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B0"/>
                </a:solidFill>
                <a:latin typeface="Calibri"/>
              </a:defRPr>
            </a:pPr>
            <a:r>
              <a:t>CONECTA JOVEM — SISTEMA DE GESTÃO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5120640"/>
            <a:ext cx="210312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70"/>
                </a:solidFill>
                <a:latin typeface="Calibri"/>
              </a:defRPr>
            </a:pPr>
            <a:r>
              <a:t>Plataforma Digital  ·  Acesso por Código  ·  14 Diretorias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2CC"/>
                </a:solidFill>
                <a:latin typeface="Calibri"/>
              </a:defRPr>
            </a:pPr>
            <a:r>
              <a:t>gremios-neon.vercel.app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50A14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6858000" cy="576072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68580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Calibri"/>
              </a:defRPr>
            </a:pPr>
            <a:r>
              <a:t>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 Grêmio Estudantil Conecta Jovem possui uma plataforma digital completa para gestão interna — desenvolvida pela Diretoria de Tecnologia.</a:t>
            </a:r>
            <a:br/>
            <a:br/>
            <a:r>
              <a:t>• Login seguro por código de acesso + data de nascimento</a:t>
            </a:r>
            <a:br/>
            <a:r>
              <a:t>• Dashboard com estatísticas em tempo real</a:t>
            </a:r>
            <a:br/>
            <a:r>
              <a:t>• Gestão de tarefas com prioridades e prazos</a:t>
            </a:r>
            <a:br/>
            <a:r>
              <a:t>• Calendário de eventos com orçamento</a:t>
            </a:r>
            <a:br/>
            <a:r>
              <a:t>• Diário oficial do grêmio</a:t>
            </a:r>
            <a:br/>
            <a:r>
              <a:t>• Controle financeiro (receitas e despesas)</a:t>
            </a:r>
            <a:br/>
            <a:r>
              <a:t>• Perfis dos membros com cores e cargos</a:t>
            </a:r>
            <a:br/>
            <a:r>
              <a:t>• Sistema de logs para auditoria</a:t>
            </a:r>
            <a:br/>
            <a:r>
              <a:t>• Tema claro/escuro (glassmorphism)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Calibri"/>
              </a:defRPr>
            </a:pPr>
            <a:r>
              <a:t>Deploy: gremios-neon.vercel.app  |  Backend: Supabase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48640"/>
            <a:ext cx="3840480" cy="576072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548640"/>
            <a:ext cx="3840480" cy="38100"/>
          </a:xfrm>
          <a:prstGeom prst="rect">
            <a:avLst/>
          </a:prstGeom>
          <a:solidFill>
            <a:srgbClr val="00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822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143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HTML + CSS + JS puro</a:t>
            </a:r>
            <a:br/>
            <a:r>
              <a:t>Glassmorphism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331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Supabase (PostgreSQL)</a:t>
            </a:r>
            <a:br/>
            <a:r>
              <a:t>RLS +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520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Código de acesso</a:t>
            </a:r>
            <a:br/>
            <a:r>
              <a:t>+ Data de nascimento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70915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Vercel</a:t>
            </a:r>
            <a:br/>
            <a:r>
              <a:t>CI/CD automático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2050F"/>
              </a:gs>
              <a:gs pos="100000">
                <a:srgbClr val="000F1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E5FF"/>
                </a:solidFill>
                <a:latin typeface="Calibri"/>
              </a:defRPr>
            </a:pPr>
            <a:r>
              <a:t>ESTRUTURA DO GRÊMIO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01168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Presidência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Lidera o grêmio estudantil, representa a gestão e coordena todas as diretorias.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0972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1097280"/>
            <a:ext cx="2011680" cy="381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0B0"/>
                </a:solidFill>
                <a:latin typeface="Calibri"/>
              </a:defRPr>
            </a:pPr>
            <a:r>
              <a:t>Vice-Presidência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Auxilia a presidência e assume em caso de ausência.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0972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097280"/>
            <a:ext cx="2011680" cy="381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0B0"/>
                </a:solidFill>
                <a:latin typeface="Calibri"/>
              </a:defRPr>
            </a:pPr>
            <a:r>
              <a:t>Secretaria Geral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600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Gestão de documentos, atas e registros oficiais.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0972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1097280"/>
            <a:ext cx="2011680" cy="381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0B0"/>
                </a:solidFill>
                <a:latin typeface="Calibri"/>
              </a:defRPr>
            </a:pPr>
            <a:r>
              <a:t>Secretaria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600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Apoio administrativo e organização interna.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0972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1097280"/>
            <a:ext cx="201168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Tesouraria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600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Gestão financeira — receitas, despesas e relatórios.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9260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926080"/>
            <a:ext cx="2011680" cy="38100"/>
          </a:xfrm>
          <a:prstGeom prst="rect">
            <a:avLst/>
          </a:prstGeom>
          <a:solidFill>
            <a:srgbClr val="00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063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2CC"/>
                </a:solidFill>
                <a:latin typeface="Calibri"/>
              </a:defRPr>
            </a:pPr>
            <a:r>
              <a:t>Cultura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29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Promove atividades culturais, artísticas e de expressão.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29260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0360" y="2926080"/>
            <a:ext cx="2011680" cy="381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063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0B0"/>
                </a:solidFill>
                <a:latin typeface="Calibri"/>
              </a:defRPr>
            </a:pPr>
            <a:r>
              <a:t>Esportes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429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Organiza torneios e atividades esportivas.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29260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2080" y="2926080"/>
            <a:ext cx="201168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3063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3429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Planejamento e execução de eventos escolares.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29260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43800" y="2926080"/>
            <a:ext cx="201168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3063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alibri"/>
              </a:defRPr>
            </a:pPr>
            <a:r>
              <a:t>Comunicação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429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Divulgação, redes sociais e informação.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29260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75520" y="2926080"/>
            <a:ext cx="20116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2680" y="3063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  <a:latin typeface="Calibri"/>
              </a:defRPr>
            </a:pPr>
            <a:r>
              <a:t>Responsabilidade Social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3429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Ações solidárias e de apoio à comunidade.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7548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754880"/>
            <a:ext cx="20116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892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  <a:latin typeface="Calibri"/>
              </a:defRPr>
            </a:pPr>
            <a:r>
              <a:t>Meio Ambiente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257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Projetos ecológicos e sustentabilidade.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80360" y="47548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80360" y="4754880"/>
            <a:ext cx="2011680" cy="38100"/>
          </a:xfrm>
          <a:prstGeom prst="rect">
            <a:avLst/>
          </a:prstGeom>
          <a:solidFill>
            <a:srgbClr val="00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4892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2CC"/>
                </a:solidFill>
                <a:latin typeface="Calibri"/>
              </a:defRPr>
            </a:pPr>
            <a:r>
              <a:t>Protagonismo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5257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Formação de líderes e empoderamento juvenil.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2080" y="47548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12080" y="4754880"/>
            <a:ext cx="201168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49240" y="4892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alibri"/>
              </a:defRPr>
            </a:pPr>
            <a:r>
              <a:t>Tecnologia e Inovação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5257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Sistemas digitais, infraestrutura tech e inovação.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3800" y="4754880"/>
            <a:ext cx="201168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43800" y="4754880"/>
            <a:ext cx="2011680" cy="381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4892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0B0"/>
                </a:solidFill>
                <a:latin typeface="Calibri"/>
              </a:defRPr>
            </a:pPr>
            <a:r>
              <a:t>Ouvidoria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5257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B0"/>
                </a:solidFill>
                <a:latin typeface="Calibri"/>
              </a:defRPr>
            </a:pPr>
            <a:r>
              <a:t>Recebe sugestões, críticas e denúncias de forma anônima.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050A"/>
              </a:gs>
              <a:gs pos="100000">
                <a:srgbClr val="00141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E5FF"/>
                </a:solidFill>
                <a:latin typeface="Calibri"/>
              </a:defRPr>
            </a:pPr>
            <a:r>
              <a:t>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Calibri"/>
              </a:defRPr>
            </a:pPr>
            <a:r>
              <a:t>PostgreSQL via Supabase — 7 tabelas com RLS e FKs otimizadas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200400" cy="18288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2004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id, full_name, cpf</a:t>
            </a:r>
            <a:br/>
            <a:r>
              <a:t>access_code, role</a:t>
            </a:r>
            <a:br/>
            <a:r>
              <a:t>department_id, color_hex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45920"/>
            <a:ext cx="3200400" cy="18288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64592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departments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488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id, name</a:t>
            </a:r>
            <a:br/>
            <a:r>
              <a:t>description</a:t>
            </a:r>
            <a:br/>
            <a:r>
              <a:t>created_at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645920"/>
            <a:ext cx="3200400" cy="18288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645920"/>
            <a:ext cx="3200400" cy="38100"/>
          </a:xfrm>
          <a:prstGeom prst="rect">
            <a:avLst/>
          </a:prstGeom>
          <a:solidFill>
            <a:srgbClr val="00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CC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id, title, status</a:t>
            </a:r>
            <a:br/>
            <a:r>
              <a:t>priority, assigned_to</a:t>
            </a:r>
            <a:br/>
            <a:r>
              <a:t>due_date, dept_id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200400" cy="18288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320040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id, name, date</a:t>
            </a:r>
            <a:br/>
            <a:r>
              <a:t>location, budget</a:t>
            </a:r>
            <a:br/>
            <a:r>
              <a:t>status, created_by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840480"/>
            <a:ext cx="3200400" cy="18288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3840480"/>
            <a:ext cx="3200400" cy="381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diary_entries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3434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id, title, content</a:t>
            </a:r>
            <a:br/>
            <a:r>
              <a:t>tags, created_by</a:t>
            </a:r>
            <a:br/>
            <a:r>
              <a:t>created_at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840480"/>
            <a:ext cx="3200400" cy="18288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4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0" y="3840480"/>
            <a:ext cx="3200400" cy="38100"/>
          </a:xfrm>
          <a:prstGeom prst="rect">
            <a:avLst/>
          </a:prstGeom>
          <a:solidFill>
            <a:srgbClr val="F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C4C"/>
                </a:solidFill>
                <a:latin typeface="Calibri"/>
              </a:defRPr>
            </a:pPr>
            <a:r>
              <a:t>finances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3434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id, description</a:t>
            </a:r>
            <a:br/>
            <a:r>
              <a:t>amount, type</a:t>
            </a:r>
            <a:br/>
            <a:r>
              <a:t>date, category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5303520"/>
            <a:ext cx="3200400" cy="18288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5303520"/>
            <a:ext cx="3200400" cy="3810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B0B0"/>
                </a:solidFill>
                <a:latin typeface="Calibri"/>
              </a:defRPr>
            </a:pPr>
            <a:r>
              <a:t>system_logs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8064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Calibri"/>
              </a:defRPr>
            </a:pPr>
            <a:r>
              <a:t>id, user_id</a:t>
            </a:r>
            <a:br/>
            <a:r>
              <a:t>action, details</a:t>
            </a:r>
            <a:br/>
            <a:r>
              <a:t>created_at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50000"/>
              </a:gs>
              <a:gs pos="100000">
                <a:srgbClr val="0A0F1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5486400" cy="576072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548640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FF"/>
                </a:solidFill>
                <a:latin typeface="Calibri"/>
              </a:defRPr>
            </a:pPr>
            <a:r>
              <a:t>🔐 AUTENTICAÇÃO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 sistema NÃO usa Supabase Auth.</a:t>
            </a:r>
            <a:br/>
            <a:br/>
            <a:r>
              <a:t>Fluxo de login:</a:t>
            </a:r>
            <a:br/>
            <a:r>
              <a:t>1. Usuário insere Código de Acesso</a:t>
            </a:r>
            <a:br/>
            <a:r>
              <a:t>2. Informa Data de Nascimento</a:t>
            </a:r>
            <a:br/>
            <a:r>
              <a:t>3. Função validate_access_code() consulta o banco</a:t>
            </a:r>
            <a:br/>
            <a:r>
              <a:t>4. Se válido → sessão criada no localStorage</a:t>
            </a:r>
            <a:br/>
            <a:r>
              <a:t>5. Redirect ao Dashboard com perfil carregado</a:t>
            </a:r>
            <a:br/>
            <a:br/>
            <a:r>
              <a:t>Código de acesso = UPPER(input)</a:t>
            </a:r>
            <a:br/>
            <a:r>
              <a:t>Exemplo: tech-elvey → TECH-ELVEY</a:t>
            </a:r>
            <a:br/>
            <a:br/>
            <a:r>
              <a:t>Blindagem:</a:t>
            </a:r>
            <a:br/>
            <a:r>
              <a:t>• CPF e access_code com REVOKE no banco</a:t>
            </a:r>
            <a:br/>
            <a:r>
              <a:t>• Front nunca envia dados sensíveis de volta</a:t>
            </a:r>
            <a:br/>
            <a:r>
              <a:t>• RLS aberto (login customizado, sem auth.uid())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48640"/>
            <a:ext cx="5212080" cy="576072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548640"/>
            <a:ext cx="52120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822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alibri"/>
              </a:defRPr>
            </a:pPr>
            <a:r>
              <a:t>🛡️ SEGURANÇA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Row Level Security (RLS):</a:t>
            </a:r>
            <a:br/>
            <a:r>
              <a:t>• Todas as 7 tabelas com RLS habilitado</a:t>
            </a:r>
            <a:br/>
            <a:r>
              <a:t>• Policies: SELECT/INSERT/UPDATE/DELETE</a:t>
            </a:r>
            <a:br/>
            <a:r>
              <a:t>• Acesso universal (login customizado)</a:t>
            </a:r>
            <a:br/>
            <a:br/>
            <a:r>
              <a:t>Foreign Keys:</a:t>
            </a:r>
            <a:br/>
            <a:r>
              <a:t>• Todas com ON DELETE SET NULL</a:t>
            </a:r>
            <a:br/>
            <a:r>
              <a:t>• Nunca CASCADE — evita perda em cascata</a:t>
            </a:r>
            <a:br/>
            <a:br/>
            <a:r>
              <a:t>Frontend:</a:t>
            </a:r>
            <a:br/>
            <a:r>
              <a:t>• requireAuth() em cada página</a:t>
            </a:r>
            <a:br/>
            <a:r>
              <a:t>• requireAdmin() para painel admin</a:t>
            </a:r>
            <a:br/>
            <a:r>
              <a:t>• Sessão persistida no localStorage</a:t>
            </a:r>
            <a:br/>
            <a:r>
              <a:t>• Logout limpa toda sessão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A14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E5FF"/>
                </a:solidFill>
                <a:latin typeface="Calibri"/>
              </a:defRPr>
            </a:pPr>
            <a:r>
              <a:t>INTERFACE &amp;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21945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47472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🎨 Glassmorphism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Cards com backdrop-filter blur,</a:t>
            </a:r>
            <a:br/>
            <a:r>
              <a:t>bordas semi-transparentes</a:t>
            </a:r>
            <a:br/>
            <a:r>
              <a:t>e sombras profundas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3474720" cy="21945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097280"/>
            <a:ext cx="3474720" cy="381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🌓 Dark/Light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Toggle automático com</a:t>
            </a:r>
            <a:br/>
            <a:r>
              <a:t>variáveis CSS e</a:t>
            </a:r>
            <a:br/>
            <a:r>
              <a:t>transição suave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74720" cy="21945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47472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Calibri"/>
              </a:defRPr>
            </a:pPr>
            <a:r>
              <a:t>📱 Mobile-First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Side-nav responsiva,</a:t>
            </a:r>
            <a:br/>
            <a:r>
              <a:t>grid adaptável,</a:t>
            </a:r>
            <a:br/>
            <a:r>
              <a:t>touch-friendly (44px 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474720" cy="21945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3474720" cy="38100"/>
          </a:xfrm>
          <a:prstGeom prst="rect">
            <a:avLst/>
          </a:prstGeom>
          <a:solidFill>
            <a:srgbClr val="00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2CC"/>
                </a:solidFill>
                <a:latin typeface="Calibri"/>
              </a:defRPr>
            </a:pPr>
            <a:r>
              <a:t>🗂️ Side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Menu lateral com scroll,</a:t>
            </a:r>
            <a:br/>
            <a:r>
              <a:t>avatar do usuário,</a:t>
            </a:r>
            <a:br/>
            <a:r>
              <a:t>indicador de página ativa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657600"/>
            <a:ext cx="3474720" cy="21945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657600"/>
            <a:ext cx="347472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🧊 Glass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343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Superfícies translúcidas</a:t>
            </a:r>
            <a:br/>
            <a:r>
              <a:t>com accent color</a:t>
            </a:r>
            <a:br/>
            <a:r>
              <a:t>e border-radius 20px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21945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657600"/>
            <a:ext cx="3474720" cy="381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⚡ Transições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43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cubic-bezier(0.4,0,0.2,1)</a:t>
            </a:r>
            <a:br/>
            <a:r>
              <a:t>em todos os interativos.</a:t>
            </a:r>
            <a:br/>
            <a:r>
              <a:t>Micro-animações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141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FF"/>
                </a:solidFill>
                <a:latin typeface="Calibri"/>
              </a:defRPr>
            </a:pPr>
            <a:r>
              <a:t>CÓDIGOS DE ACESSO — MEMBROS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7070"/>
                </a:solidFill>
                <a:latin typeface="Calibri"/>
              </a:defRPr>
            </a:pPr>
            <a:r>
              <a:t>Use o código + data de nascimento para entrar no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Lohanna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Presidente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PRES-LOHANNA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29967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0B0"/>
                </a:solidFill>
                <a:latin typeface="Calibri"/>
              </a:defRPr>
            </a:pPr>
            <a:r>
              <a:t>Raphaella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5000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Vice-Presidente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167127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6712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VICE-RAPH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79776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25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0B0"/>
                </a:solidFill>
                <a:latin typeface="Calibri"/>
              </a:defRPr>
            </a:pPr>
            <a:r>
              <a:t>Davi de Jesus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Secretário Geral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916936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9169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SECGERAL-DAVDJ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29584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75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0B0"/>
                </a:solidFill>
                <a:latin typeface="Calibri"/>
              </a:defRPr>
            </a:pPr>
            <a:r>
              <a:t>Bianca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496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Secretária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666744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6667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SEC-BIANCA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79392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Luzia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99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Tesoureira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4416552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TES-LUZIA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9200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2CC"/>
                </a:solidFill>
                <a:latin typeface="Calibri"/>
              </a:defRPr>
            </a:pPr>
            <a:r>
              <a:t>Agatha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Dir. Cultura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5166360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CULT-AGATHA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779008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824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0B0"/>
                </a:solidFill>
                <a:latin typeface="Calibri"/>
              </a:defRPr>
            </a:pPr>
            <a:r>
              <a:t>Junior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099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Dir. Esportes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5916168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5916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ESP-JUNIOR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59" y="1280160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19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Maria Eduarda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19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Dir. Eventos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39" y="1417320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39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EVEN-MADU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59" y="2029967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19" y="20756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Atyla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19" y="235000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Dir. Comunicação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39" y="2167127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39" y="216712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COM-ATYLA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59" y="2779776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19" y="28254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Maria Fernanda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19" y="3099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Dir. Resp. Social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39" y="2916936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39" y="29169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SOC-MAFER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59" y="3529584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19" y="3575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Kaylane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19" y="38496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Dir. Meio Ambiente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35439" y="3666744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35439" y="36667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AMB-KAY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59" y="4279392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19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2CC"/>
                </a:solidFill>
                <a:latin typeface="Calibri"/>
              </a:defRPr>
            </a:pPr>
            <a:r>
              <a:t>Paulo Henrique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19" y="4599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Dir. Protagonismo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35439" y="4416552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00B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39" y="4416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PROT-PAULO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59" y="5029200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19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Elvey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19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Dir. Tecnologia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35439" y="5166360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35439" y="5166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TECH-ELVEY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09359" y="5779008"/>
            <a:ext cx="5303520" cy="640080"/>
          </a:xfrm>
          <a:prstGeom prst="roundRect">
            <a:avLst/>
          </a:prstGeom>
          <a:solidFill>
            <a:srgbClr val="12121E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19" y="5824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0B0"/>
                </a:solidFill>
                <a:latin typeface="Calibri"/>
              </a:defRPr>
            </a:pPr>
            <a:r>
              <a:t>Verônica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46519" y="6099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Ouvidoria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235439" y="5916168"/>
            <a:ext cx="2194560" cy="365760"/>
          </a:xfrm>
          <a:prstGeom prst="roundRect">
            <a:avLst/>
          </a:prstGeom>
          <a:solidFill>
            <a:srgbClr val="001E28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35439" y="5916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  <a:latin typeface="Calibri"/>
              </a:defRPr>
            </a:pPr>
            <a:r>
              <a:t>OUVI-VERO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Calibri"/>
              </a:defRPr>
            </a:pPr>
            <a:r>
              <a:t>⚠️ Verônica assumiu a Ouvidoria no lugar de João Guilherme — Código: OUVI-VERO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